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 are Group 4. Today we are sharing our progress on the data preparation for our GenAI co-worker for Macy's marketing campaign execution. Quick five minute walkthrough of what we built and where we are headed.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our project mapped out in three parts. On the left, the 10 step workflow we documented in M1. In the middle, the four GenAI skills we are building, each one targeting a specific bottleneck step. On the right, the data each skill needs to do its job. The whole project is built around making sure these three columns line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just download a dataset, we built ours from the ground up. Researched real retail operations, designed a 7 table schema that mirrors a real Macy's data warehouse, then simulated with Faker plus LLM. We even injected the same kind of mess you would find in real retail data. The result is a 480 thousand row database we can query from any of our skills.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first working skill, the Audience Segment Builder. Sarah asks a question, the skill queries our real database, and returns three ranked segment options. Beauty Loyalists, Gift Givers, First Time Buyers, with real customer counts and average spend. Eighteen passing tests. Happy to demo it live if there is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 1 is done and ready. Three more in the pipeline this week, each one targeting a specific workflow bottleneck we identified in M1. Final 10 minute demo video on May 7 with all four skills running live. Repo link in the footer if you want to look at the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77295" cy="457200"/>
          </a:xfrm>
          <a:prstGeom prst="rect">
            <a:avLst/>
          </a:prstGeom>
          <a:noFill/>
        </p:spPr>
        <p:txBody>
          <a:bodyPr wrap="square" lIns="45720" rIns="45720" tIns="27432" bIns="27432">
            <a:spAutoFit/>
          </a:bodyPr>
          <a:lstStyle/>
          <a:p>
            <a:pPr algn="ctr"/>
            <a:r>
              <a:rPr sz="1600" b="1" i="0">
                <a:solidFill>
                  <a:srgbClr val="0B7B8A"/>
                </a:solidFill>
                <a:latin typeface="Calibri"/>
              </a:rPr>
              <a:t>MILESTONE 2 PROGRESS UPDATE</a:t>
            </a:r>
          </a:p>
        </p:txBody>
      </p:sp>
      <p:sp>
        <p:nvSpPr>
          <p:cNvPr id="4" name="Rectangle 3"/>
          <p:cNvSpPr/>
          <p:nvPr/>
        </p:nvSpPr>
        <p:spPr>
          <a:xfrm>
            <a:off x="5641848" y="2057400"/>
            <a:ext cx="914400" cy="36576"/>
          </a:xfrm>
          <a:prstGeom prst="rect">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77440"/>
            <a:ext cx="11277295" cy="1280160"/>
          </a:xfrm>
          <a:prstGeom prst="rect">
            <a:avLst/>
          </a:prstGeom>
          <a:noFill/>
        </p:spPr>
        <p:txBody>
          <a:bodyPr wrap="square" lIns="45720" rIns="45720" tIns="27432" bIns="27432">
            <a:spAutoFit/>
          </a:bodyPr>
          <a:lstStyle/>
          <a:p>
            <a:pPr algn="ctr"/>
            <a:r>
              <a:rPr sz="4400" b="1" i="0">
                <a:solidFill>
                  <a:srgbClr val="2D2D2D"/>
                </a:solidFill>
                <a:latin typeface="Georgia"/>
              </a:rPr>
              <a:t>Macy's Marketing Campaign Execution</a:t>
            </a:r>
          </a:p>
        </p:txBody>
      </p:sp>
      <p:sp>
        <p:nvSpPr>
          <p:cNvPr id="6" name="TextBox 5"/>
          <p:cNvSpPr txBox="1"/>
          <p:nvPr/>
        </p:nvSpPr>
        <p:spPr>
          <a:xfrm>
            <a:off x="457200" y="3703320"/>
            <a:ext cx="11277295" cy="640080"/>
          </a:xfrm>
          <a:prstGeom prst="rect">
            <a:avLst/>
          </a:prstGeom>
          <a:noFill/>
        </p:spPr>
        <p:txBody>
          <a:bodyPr wrap="square" lIns="45720" rIns="45720" tIns="27432" bIns="27432">
            <a:spAutoFit/>
          </a:bodyPr>
          <a:lstStyle/>
          <a:p>
            <a:pPr algn="ctr"/>
            <a:r>
              <a:rPr sz="2200" b="0" i="1">
                <a:solidFill>
                  <a:srgbClr val="0B7B8A"/>
                </a:solidFill>
                <a:latin typeface="Calibri"/>
              </a:rPr>
              <a:t>GenAI Co-worker for Omnichannel Retail Operations</a:t>
            </a:r>
          </a:p>
        </p:txBody>
      </p:sp>
      <p:sp>
        <p:nvSpPr>
          <p:cNvPr id="7" name="TextBox 6"/>
          <p:cNvSpPr txBox="1"/>
          <p:nvPr/>
        </p:nvSpPr>
        <p:spPr>
          <a:xfrm>
            <a:off x="457200" y="5120640"/>
            <a:ext cx="11277295" cy="457200"/>
          </a:xfrm>
          <a:prstGeom prst="rect">
            <a:avLst/>
          </a:prstGeom>
          <a:noFill/>
        </p:spPr>
        <p:txBody>
          <a:bodyPr wrap="square" lIns="45720" rIns="45720" tIns="27432" bIns="27432">
            <a:spAutoFit/>
          </a:bodyPr>
          <a:lstStyle/>
          <a:p>
            <a:pPr algn="ctr"/>
            <a:r>
              <a:rPr sz="1600" b="0" i="0">
                <a:solidFill>
                  <a:srgbClr val="2D2D2D"/>
                </a:solidFill>
                <a:latin typeface="Calibri"/>
              </a:rPr>
              <a:t>Group 4: Merna Saad, Abdullah, Shankar</a:t>
            </a:r>
          </a:p>
        </p:txBody>
      </p:sp>
      <p:sp>
        <p:nvSpPr>
          <p:cNvPr id="8" name="TextBox 7"/>
          <p:cNvSpPr txBox="1"/>
          <p:nvPr/>
        </p:nvSpPr>
        <p:spPr>
          <a:xfrm>
            <a:off x="457200" y="5577840"/>
            <a:ext cx="11277295" cy="457200"/>
          </a:xfrm>
          <a:prstGeom prst="rect">
            <a:avLst/>
          </a:prstGeom>
          <a:noFill/>
        </p:spPr>
        <p:txBody>
          <a:bodyPr wrap="square" lIns="45720" rIns="45720" tIns="27432" bIns="27432">
            <a:spAutoFit/>
          </a:bodyPr>
          <a:lstStyle/>
          <a:p>
            <a:pPr algn="ctr"/>
            <a:r>
              <a:rPr sz="1400" b="0" i="1">
                <a:solidFill>
                  <a:srgbClr val="2D2D2D"/>
                </a:solidFill>
                <a:latin typeface="Calibri"/>
              </a:rPr>
              <a:t>MGT 449, Spring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640080"/>
          </a:xfrm>
          <a:prstGeom prst="rect">
            <a:avLst/>
          </a:prstGeom>
          <a:noFill/>
        </p:spPr>
        <p:txBody>
          <a:bodyPr wrap="square" lIns="45720" rIns="45720" tIns="27432" bIns="27432">
            <a:spAutoFit/>
          </a:bodyPr>
          <a:lstStyle/>
          <a:p>
            <a:pPr algn="ctr"/>
            <a:r>
              <a:rPr sz="3000" b="1" i="0">
                <a:solidFill>
                  <a:srgbClr val="2D2D2D"/>
                </a:solidFill>
                <a:latin typeface="Georgia"/>
              </a:rPr>
              <a:t>From Workflow to Skills to Data</a:t>
            </a:r>
          </a:p>
        </p:txBody>
      </p:sp>
      <p:sp>
        <p:nvSpPr>
          <p:cNvPr id="4" name="Rectangle 3"/>
          <p:cNvSpPr/>
          <p:nvPr/>
        </p:nvSpPr>
        <p:spPr>
          <a:xfrm>
            <a:off x="5184648" y="960120"/>
            <a:ext cx="1828800" cy="36576"/>
          </a:xfrm>
          <a:prstGeom prst="rect">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3657600" cy="457200"/>
          </a:xfrm>
          <a:prstGeom prst="rect">
            <a:avLst/>
          </a:prstGeom>
          <a:noFill/>
        </p:spPr>
        <p:txBody>
          <a:bodyPr wrap="square" lIns="45720" rIns="45720" tIns="27432" bIns="27432">
            <a:spAutoFit/>
          </a:bodyPr>
          <a:lstStyle/>
          <a:p>
            <a:pPr algn="l"/>
            <a:r>
              <a:rPr sz="1500" b="1" i="0">
                <a:solidFill>
                  <a:srgbClr val="0B7B8A"/>
                </a:solidFill>
                <a:latin typeface="Calibri"/>
              </a:rPr>
              <a:t>10 STEP WORKFLOW</a:t>
            </a:r>
          </a:p>
        </p:txBody>
      </p:sp>
      <p:sp>
        <p:nvSpPr>
          <p:cNvPr id="6" name="TextBox 5"/>
          <p:cNvSpPr txBox="1"/>
          <p:nvPr/>
        </p:nvSpPr>
        <p:spPr>
          <a:xfrm>
            <a:off x="457200" y="1691640"/>
            <a:ext cx="3657600" cy="4297680"/>
          </a:xfrm>
          <a:prstGeom prst="rect">
            <a:avLst/>
          </a:prstGeom>
          <a:noFill/>
        </p:spPr>
        <p:txBody>
          <a:bodyPr wrap="square" lIns="45720" rIns="45720" tIns="27432" bIns="27432">
            <a:spAutoFit/>
          </a:bodyPr>
          <a:lstStyle/>
          <a:p>
            <a:pPr algn="l">
              <a:spcAft>
                <a:spcPts val="400"/>
              </a:spcAft>
            </a:pPr>
            <a:r>
              <a:rPr sz="1300" b="0" i="0">
                <a:solidFill>
                  <a:srgbClr val="2D2D2D"/>
                </a:solidFill>
                <a:latin typeface="Calibri"/>
              </a:rPr>
              <a:t>1. Briefing</a:t>
            </a:r>
          </a:p>
          <a:p>
            <a:pPr algn="l">
              <a:spcAft>
                <a:spcPts val="400"/>
              </a:spcAft>
            </a:pPr>
            <a:r>
              <a:rPr sz="1300" b="0" i="0">
                <a:solidFill>
                  <a:srgbClr val="2D2D2D"/>
                </a:solidFill>
                <a:latin typeface="Calibri"/>
              </a:rPr>
              <a:t>2. Segmentation</a:t>
            </a:r>
          </a:p>
          <a:p>
            <a:pPr algn="l">
              <a:spcAft>
                <a:spcPts val="400"/>
              </a:spcAft>
            </a:pPr>
            <a:r>
              <a:rPr sz="1300" b="0" i="0">
                <a:solidFill>
                  <a:srgbClr val="2D2D2D"/>
                </a:solidFill>
                <a:latin typeface="Calibri"/>
              </a:rPr>
              <a:t>3. SKU Selection</a:t>
            </a:r>
          </a:p>
          <a:p>
            <a:pPr algn="l">
              <a:spcAft>
                <a:spcPts val="400"/>
              </a:spcAft>
            </a:pPr>
            <a:r>
              <a:rPr sz="1300" b="0" i="0">
                <a:solidFill>
                  <a:srgbClr val="2D2D2D"/>
                </a:solidFill>
                <a:latin typeface="Calibri"/>
              </a:rPr>
              <a:t>4. Creative Production</a:t>
            </a:r>
          </a:p>
          <a:p>
            <a:pPr algn="l">
              <a:spcAft>
                <a:spcPts val="400"/>
              </a:spcAft>
            </a:pPr>
            <a:r>
              <a:rPr sz="1300" b="0" i="0">
                <a:solidFill>
                  <a:srgbClr val="2D2D2D"/>
                </a:solidFill>
                <a:latin typeface="Calibri"/>
              </a:rPr>
              <a:t>5. Layout Assembly</a:t>
            </a:r>
          </a:p>
          <a:p>
            <a:pPr algn="l">
              <a:spcAft>
                <a:spcPts val="400"/>
              </a:spcAft>
            </a:pPr>
            <a:r>
              <a:rPr sz="1300" b="0" i="0">
                <a:solidFill>
                  <a:srgbClr val="2D2D2D"/>
                </a:solidFill>
                <a:latin typeface="Calibri"/>
              </a:rPr>
              <a:t>6. Approval</a:t>
            </a:r>
          </a:p>
          <a:p>
            <a:pPr algn="l">
              <a:spcAft>
                <a:spcPts val="400"/>
              </a:spcAft>
            </a:pPr>
            <a:r>
              <a:rPr sz="1300" b="0" i="0">
                <a:solidFill>
                  <a:srgbClr val="2D2D2D"/>
                </a:solidFill>
                <a:latin typeface="Calibri"/>
              </a:rPr>
              <a:t>7. Localization</a:t>
            </a:r>
          </a:p>
          <a:p>
            <a:pPr algn="l">
              <a:spcAft>
                <a:spcPts val="400"/>
              </a:spcAft>
            </a:pPr>
            <a:r>
              <a:rPr sz="1300" b="0" i="0">
                <a:solidFill>
                  <a:srgbClr val="2D2D2D"/>
                </a:solidFill>
                <a:latin typeface="Calibri"/>
              </a:rPr>
              <a:t>8. Activation</a:t>
            </a:r>
          </a:p>
          <a:p>
            <a:pPr algn="l">
              <a:spcAft>
                <a:spcPts val="400"/>
              </a:spcAft>
            </a:pPr>
            <a:r>
              <a:rPr sz="1300" b="0" i="0">
                <a:solidFill>
                  <a:srgbClr val="2D2D2D"/>
                </a:solidFill>
                <a:latin typeface="Calibri"/>
              </a:rPr>
              <a:t>9. Monitoring</a:t>
            </a:r>
          </a:p>
          <a:p>
            <a:pPr algn="l">
              <a:spcAft>
                <a:spcPts val="400"/>
              </a:spcAft>
            </a:pPr>
            <a:r>
              <a:rPr sz="1300" b="0" i="0">
                <a:solidFill>
                  <a:srgbClr val="2D2D2D"/>
                </a:solidFill>
                <a:latin typeface="Calibri"/>
              </a:rPr>
              <a:t>10. Reporting</a:t>
            </a:r>
          </a:p>
        </p:txBody>
      </p:sp>
      <p:sp>
        <p:nvSpPr>
          <p:cNvPr id="7" name="TextBox 6"/>
          <p:cNvSpPr txBox="1"/>
          <p:nvPr/>
        </p:nvSpPr>
        <p:spPr>
          <a:xfrm>
            <a:off x="4270248" y="1234440"/>
            <a:ext cx="3657600" cy="457200"/>
          </a:xfrm>
          <a:prstGeom prst="rect">
            <a:avLst/>
          </a:prstGeom>
          <a:noFill/>
        </p:spPr>
        <p:txBody>
          <a:bodyPr wrap="square" lIns="45720" rIns="45720" tIns="27432" bIns="27432">
            <a:spAutoFit/>
          </a:bodyPr>
          <a:lstStyle/>
          <a:p>
            <a:pPr algn="l"/>
            <a:r>
              <a:rPr sz="1500" b="1" i="0">
                <a:solidFill>
                  <a:srgbClr val="0B7B8A"/>
                </a:solidFill>
                <a:latin typeface="Calibri"/>
              </a:rPr>
              <a:t>4 SKILLS</a:t>
            </a:r>
          </a:p>
        </p:txBody>
      </p:sp>
      <p:sp>
        <p:nvSpPr>
          <p:cNvPr id="8" name="TextBox 7"/>
          <p:cNvSpPr txBox="1"/>
          <p:nvPr/>
        </p:nvSpPr>
        <p:spPr>
          <a:xfrm>
            <a:off x="4270248" y="1691640"/>
            <a:ext cx="3657600" cy="4297680"/>
          </a:xfrm>
          <a:prstGeom prst="rect">
            <a:avLst/>
          </a:prstGeom>
          <a:noFill/>
        </p:spPr>
        <p:txBody>
          <a:bodyPr wrap="square" lIns="45720" rIns="45720" tIns="27432" bIns="27432">
            <a:spAutoFit/>
          </a:bodyPr>
          <a:lstStyle/>
          <a:p>
            <a:pPr algn="l">
              <a:spcAft>
                <a:spcPts val="200"/>
              </a:spcAft>
            </a:pPr>
            <a:r>
              <a:rPr sz="1300" b="1" i="0">
                <a:solidFill>
                  <a:srgbClr val="2D2D2D"/>
                </a:solidFill>
                <a:latin typeface="Calibri"/>
              </a:rPr>
              <a:t>SKILL 1: Audience Segment Builder</a:t>
            </a:r>
          </a:p>
          <a:p>
            <a:pPr algn="l">
              <a:spcAft>
                <a:spcPts val="1000"/>
              </a:spcAft>
            </a:pPr>
            <a:r>
              <a:rPr sz="1200" b="0" i="1">
                <a:solidFill>
                  <a:srgbClr val="0B7B8A"/>
                </a:solidFill>
                <a:latin typeface="Calibri"/>
              </a:rPr>
              <a:t>Targets: Step 2</a:t>
            </a:r>
          </a:p>
          <a:p>
            <a:pPr algn="l">
              <a:spcAft>
                <a:spcPts val="200"/>
              </a:spcAft>
            </a:pPr>
            <a:r>
              <a:rPr sz="1300" b="1" i="0">
                <a:solidFill>
                  <a:srgbClr val="2D2D2D"/>
                </a:solidFill>
                <a:latin typeface="Calibri"/>
              </a:rPr>
              <a:t>SKILL 2: DAM Asset Finder</a:t>
            </a:r>
          </a:p>
          <a:p>
            <a:pPr algn="l">
              <a:spcAft>
                <a:spcPts val="1000"/>
              </a:spcAft>
            </a:pPr>
            <a:r>
              <a:rPr sz="1200" b="0" i="1">
                <a:solidFill>
                  <a:srgbClr val="0B7B8A"/>
                </a:solidFill>
                <a:latin typeface="Calibri"/>
              </a:rPr>
              <a:t>Targets: Steps 4 to 5</a:t>
            </a:r>
          </a:p>
          <a:p>
            <a:pPr algn="l">
              <a:spcAft>
                <a:spcPts val="200"/>
              </a:spcAft>
            </a:pPr>
            <a:r>
              <a:rPr sz="1300" b="1" i="0">
                <a:solidFill>
                  <a:srgbClr val="2D2D2D"/>
                </a:solidFill>
                <a:latin typeface="Calibri"/>
              </a:rPr>
              <a:t>SKILL 3: Localization Generator</a:t>
            </a:r>
          </a:p>
          <a:p>
            <a:pPr algn="l">
              <a:spcAft>
                <a:spcPts val="1000"/>
              </a:spcAft>
            </a:pPr>
            <a:r>
              <a:rPr sz="1200" b="0" i="1">
                <a:solidFill>
                  <a:srgbClr val="0B7B8A"/>
                </a:solidFill>
                <a:latin typeface="Calibri"/>
              </a:rPr>
              <a:t>Targets: Step 7</a:t>
            </a:r>
          </a:p>
          <a:p>
            <a:pPr algn="l">
              <a:spcAft>
                <a:spcPts val="200"/>
              </a:spcAft>
            </a:pPr>
            <a:r>
              <a:rPr sz="1300" b="1" i="0">
                <a:solidFill>
                  <a:srgbClr val="2D2D2D"/>
                </a:solidFill>
                <a:latin typeface="Calibri"/>
              </a:rPr>
              <a:t>SKILL 4: Campaign Performance Analyzer</a:t>
            </a:r>
          </a:p>
          <a:p>
            <a:pPr algn="l">
              <a:spcAft>
                <a:spcPts val="1000"/>
              </a:spcAft>
            </a:pPr>
            <a:r>
              <a:rPr sz="1200" b="0" i="1">
                <a:solidFill>
                  <a:srgbClr val="0B7B8A"/>
                </a:solidFill>
                <a:latin typeface="Calibri"/>
              </a:rPr>
              <a:t>Targets: Step 9</a:t>
            </a:r>
          </a:p>
        </p:txBody>
      </p:sp>
      <p:sp>
        <p:nvSpPr>
          <p:cNvPr id="9" name="TextBox 8"/>
          <p:cNvSpPr txBox="1"/>
          <p:nvPr/>
        </p:nvSpPr>
        <p:spPr>
          <a:xfrm>
            <a:off x="8074152" y="1234440"/>
            <a:ext cx="3657600" cy="457200"/>
          </a:xfrm>
          <a:prstGeom prst="rect">
            <a:avLst/>
          </a:prstGeom>
          <a:noFill/>
        </p:spPr>
        <p:txBody>
          <a:bodyPr wrap="square" lIns="45720" rIns="45720" tIns="27432" bIns="27432">
            <a:spAutoFit/>
          </a:bodyPr>
          <a:lstStyle/>
          <a:p>
            <a:pPr algn="l"/>
            <a:r>
              <a:rPr sz="1500" b="1" i="0">
                <a:solidFill>
                  <a:srgbClr val="0B7B8A"/>
                </a:solidFill>
                <a:latin typeface="Calibri"/>
              </a:rPr>
              <a:t>DATA NEEDED</a:t>
            </a:r>
          </a:p>
        </p:txBody>
      </p:sp>
      <p:sp>
        <p:nvSpPr>
          <p:cNvPr id="10" name="TextBox 9"/>
          <p:cNvSpPr txBox="1"/>
          <p:nvPr/>
        </p:nvSpPr>
        <p:spPr>
          <a:xfrm>
            <a:off x="8074152" y="1691640"/>
            <a:ext cx="3657600" cy="4297680"/>
          </a:xfrm>
          <a:prstGeom prst="rect">
            <a:avLst/>
          </a:prstGeom>
          <a:noFill/>
        </p:spPr>
        <p:txBody>
          <a:bodyPr wrap="square" lIns="45720" rIns="45720" tIns="27432" bIns="27432">
            <a:spAutoFit/>
          </a:bodyPr>
          <a:lstStyle/>
          <a:p>
            <a:pPr algn="l">
              <a:spcAft>
                <a:spcPts val="1400"/>
              </a:spcAft>
            </a:pPr>
            <a:r>
              <a:rPr sz="1300" b="0" i="0">
                <a:solidFill>
                  <a:srgbClr val="2D2D2D"/>
                </a:solidFill>
                <a:latin typeface="Calibri"/>
              </a:rPr>
              <a:t>•  Customer profiles, transactions, loyalty data</a:t>
            </a:r>
          </a:p>
          <a:p>
            <a:pPr algn="l">
              <a:spcAft>
                <a:spcPts val="1400"/>
              </a:spcAft>
            </a:pPr>
            <a:r>
              <a:rPr sz="1300" b="0" i="0">
                <a:solidFill>
                  <a:srgbClr val="2D2D2D"/>
                </a:solidFill>
                <a:latin typeface="Calibri"/>
              </a:rPr>
              <a:t>•  DAM asset metadata, tags, rights, resolution</a:t>
            </a:r>
          </a:p>
          <a:p>
            <a:pPr algn="l">
              <a:spcAft>
                <a:spcPts val="1400"/>
              </a:spcAft>
            </a:pPr>
            <a:r>
              <a:rPr sz="1300" b="0" i="0">
                <a:solidFill>
                  <a:srgbClr val="2D2D2D"/>
                </a:solidFill>
                <a:latin typeface="Calibri"/>
              </a:rPr>
              <a:t>•  Master ad spec, regional pricing, inventory</a:t>
            </a:r>
          </a:p>
          <a:p>
            <a:pPr algn="l">
              <a:spcAft>
                <a:spcPts val="1400"/>
              </a:spcAft>
            </a:pPr>
            <a:r>
              <a:rPr sz="1300" b="0" i="0">
                <a:solidFill>
                  <a:srgbClr val="2D2D2D"/>
                </a:solidFill>
                <a:latin typeface="Calibri"/>
              </a:rPr>
              <a:t>•  Campaign performance by channel and segment</a:t>
            </a:r>
          </a:p>
        </p:txBody>
      </p:sp>
      <p:sp>
        <p:nvSpPr>
          <p:cNvPr id="11" name="TextBox 10"/>
          <p:cNvSpPr txBox="1"/>
          <p:nvPr/>
        </p:nvSpPr>
        <p:spPr>
          <a:xfrm>
            <a:off x="457200" y="6172200"/>
            <a:ext cx="11277295" cy="457200"/>
          </a:xfrm>
          <a:prstGeom prst="rect">
            <a:avLst/>
          </a:prstGeom>
          <a:noFill/>
        </p:spPr>
        <p:txBody>
          <a:bodyPr wrap="square" lIns="45720" rIns="45720" tIns="27432" bIns="27432">
            <a:spAutoFit/>
          </a:bodyPr>
          <a:lstStyle/>
          <a:p>
            <a:pPr algn="ctr"/>
            <a:r>
              <a:rPr sz="1400" b="0" i="1">
                <a:solidFill>
                  <a:srgbClr val="0B7B8A"/>
                </a:solidFill>
                <a:latin typeface="Calibri"/>
              </a:rPr>
              <a:t>Each skill solves one workflow bottleneck. Each one needs specific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45720" rIns="45720" tIns="27432" bIns="27432">
            <a:spAutoFit/>
          </a:bodyPr>
          <a:lstStyle/>
          <a:p>
            <a:pPr algn="ctr"/>
            <a:r>
              <a:rPr sz="3000" b="1" i="0">
                <a:solidFill>
                  <a:srgbClr val="2D2D2D"/>
                </a:solidFill>
                <a:latin typeface="Georgia"/>
              </a:rPr>
              <a:t>How We Prepared the Data</a:t>
            </a:r>
          </a:p>
        </p:txBody>
      </p:sp>
      <p:sp>
        <p:nvSpPr>
          <p:cNvPr id="4" name="TextBox 3"/>
          <p:cNvSpPr txBox="1"/>
          <p:nvPr/>
        </p:nvSpPr>
        <p:spPr>
          <a:xfrm>
            <a:off x="457200" y="868680"/>
            <a:ext cx="11277295" cy="411480"/>
          </a:xfrm>
          <a:prstGeom prst="rect">
            <a:avLst/>
          </a:prstGeom>
          <a:noFill/>
        </p:spPr>
        <p:txBody>
          <a:bodyPr wrap="square" lIns="45720" rIns="45720" tIns="27432" bIns="27432">
            <a:spAutoFit/>
          </a:bodyPr>
          <a:lstStyle/>
          <a:p>
            <a:pPr algn="ctr"/>
            <a:r>
              <a:rPr sz="1500" b="0" i="1">
                <a:solidFill>
                  <a:srgbClr val="0B7B8A"/>
                </a:solidFill>
                <a:latin typeface="Calibri"/>
              </a:rPr>
              <a:t>From raw industry research to working database</a:t>
            </a:r>
          </a:p>
        </p:txBody>
      </p:sp>
      <p:sp>
        <p:nvSpPr>
          <p:cNvPr id="5" name="TextBox 4"/>
          <p:cNvSpPr txBox="1"/>
          <p:nvPr/>
        </p:nvSpPr>
        <p:spPr>
          <a:xfrm>
            <a:off x="457200" y="1417320"/>
            <a:ext cx="5486400" cy="365760"/>
          </a:xfrm>
          <a:prstGeom prst="rect">
            <a:avLst/>
          </a:prstGeom>
          <a:noFill/>
        </p:spPr>
        <p:txBody>
          <a:bodyPr wrap="square" lIns="45720" rIns="45720" tIns="27432" bIns="27432">
            <a:spAutoFit/>
          </a:bodyPr>
          <a:lstStyle/>
          <a:p>
            <a:pPr algn="l"/>
            <a:r>
              <a:rPr sz="1400" b="1" i="0">
                <a:solidFill>
                  <a:srgbClr val="0B7B8A"/>
                </a:solidFill>
                <a:latin typeface="Calibri"/>
              </a:rPr>
              <a:t>OUR PROCESS</a:t>
            </a:r>
          </a:p>
        </p:txBody>
      </p:sp>
      <p:sp>
        <p:nvSpPr>
          <p:cNvPr id="6" name="Oval 5"/>
          <p:cNvSpPr/>
          <p:nvPr/>
        </p:nvSpPr>
        <p:spPr>
          <a:xfrm>
            <a:off x="457200" y="1828800"/>
            <a:ext cx="384048" cy="384048"/>
          </a:xfrm>
          <a:prstGeom prst="ellipse">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1</a:t>
            </a:r>
          </a:p>
        </p:txBody>
      </p:sp>
      <p:sp>
        <p:nvSpPr>
          <p:cNvPr id="7" name="TextBox 6"/>
          <p:cNvSpPr txBox="1"/>
          <p:nvPr/>
        </p:nvSpPr>
        <p:spPr>
          <a:xfrm>
            <a:off x="1051560" y="1792224"/>
            <a:ext cx="4892040" cy="292608"/>
          </a:xfrm>
          <a:prstGeom prst="rect">
            <a:avLst/>
          </a:prstGeom>
          <a:noFill/>
        </p:spPr>
        <p:txBody>
          <a:bodyPr wrap="square" lIns="45720" rIns="45720" tIns="27432" bIns="27432">
            <a:spAutoFit/>
          </a:bodyPr>
          <a:lstStyle/>
          <a:p>
            <a:pPr algn="l"/>
            <a:r>
              <a:rPr sz="1200" b="1" i="0">
                <a:solidFill>
                  <a:srgbClr val="2D2D2D"/>
                </a:solidFill>
                <a:latin typeface="Calibri"/>
              </a:rPr>
              <a:t>RESEARCHED MACY'S OPERATIONS</a:t>
            </a:r>
          </a:p>
        </p:txBody>
      </p:sp>
      <p:sp>
        <p:nvSpPr>
          <p:cNvPr id="8" name="TextBox 7"/>
          <p:cNvSpPr txBox="1"/>
          <p:nvPr/>
        </p:nvSpPr>
        <p:spPr>
          <a:xfrm>
            <a:off x="1051560" y="2084832"/>
            <a:ext cx="4892040" cy="548640"/>
          </a:xfrm>
          <a:prstGeom prst="rect">
            <a:avLst/>
          </a:prstGeom>
          <a:noFill/>
        </p:spPr>
        <p:txBody>
          <a:bodyPr wrap="square" lIns="45720" rIns="45720" tIns="27432" bIns="27432">
            <a:spAutoFit/>
          </a:bodyPr>
          <a:lstStyle/>
          <a:p>
            <a:pPr algn="l"/>
            <a:r>
              <a:rPr sz="1050" b="0" i="0">
                <a:solidFill>
                  <a:srgbClr val="2D2D2D"/>
                </a:solidFill>
                <a:latin typeface="Calibri"/>
              </a:rPr>
              <a:t>Pulled industry data on retail marketing cycles, ROI benchmarks, and DAM challenges to ground the simulation in reality.</a:t>
            </a:r>
          </a:p>
        </p:txBody>
      </p:sp>
      <p:sp>
        <p:nvSpPr>
          <p:cNvPr id="9" name="Oval 8"/>
          <p:cNvSpPr/>
          <p:nvPr/>
        </p:nvSpPr>
        <p:spPr>
          <a:xfrm>
            <a:off x="457200" y="2697480"/>
            <a:ext cx="384048" cy="384048"/>
          </a:xfrm>
          <a:prstGeom prst="ellipse">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2</a:t>
            </a:r>
          </a:p>
        </p:txBody>
      </p:sp>
      <p:sp>
        <p:nvSpPr>
          <p:cNvPr id="10" name="TextBox 9"/>
          <p:cNvSpPr txBox="1"/>
          <p:nvPr/>
        </p:nvSpPr>
        <p:spPr>
          <a:xfrm>
            <a:off x="1051560" y="2660904"/>
            <a:ext cx="4892040" cy="292608"/>
          </a:xfrm>
          <a:prstGeom prst="rect">
            <a:avLst/>
          </a:prstGeom>
          <a:noFill/>
        </p:spPr>
        <p:txBody>
          <a:bodyPr wrap="square" lIns="45720" rIns="45720" tIns="27432" bIns="27432">
            <a:spAutoFit/>
          </a:bodyPr>
          <a:lstStyle/>
          <a:p>
            <a:pPr algn="l"/>
            <a:r>
              <a:rPr sz="1200" b="1" i="0">
                <a:solidFill>
                  <a:srgbClr val="2D2D2D"/>
                </a:solidFill>
                <a:latin typeface="Calibri"/>
              </a:rPr>
              <a:t>DESIGNED THE SCHEMA</a:t>
            </a:r>
          </a:p>
        </p:txBody>
      </p:sp>
      <p:sp>
        <p:nvSpPr>
          <p:cNvPr id="11" name="TextBox 10"/>
          <p:cNvSpPr txBox="1"/>
          <p:nvPr/>
        </p:nvSpPr>
        <p:spPr>
          <a:xfrm>
            <a:off x="1051560" y="2953512"/>
            <a:ext cx="4892040" cy="548640"/>
          </a:xfrm>
          <a:prstGeom prst="rect">
            <a:avLst/>
          </a:prstGeom>
          <a:noFill/>
        </p:spPr>
        <p:txBody>
          <a:bodyPr wrap="square" lIns="45720" rIns="45720" tIns="27432" bIns="27432">
            <a:spAutoFit/>
          </a:bodyPr>
          <a:lstStyle/>
          <a:p>
            <a:pPr algn="l"/>
            <a:r>
              <a:rPr sz="1050" b="0" i="0">
                <a:solidFill>
                  <a:srgbClr val="2D2D2D"/>
                </a:solidFill>
                <a:latin typeface="Calibri"/>
              </a:rPr>
              <a:t>7 normalized tables to mirror a real Macy's marketing data warehouse: customers, transactions, SKUs, regional pricing, DAM assets, campaigns, performance.</a:t>
            </a:r>
          </a:p>
        </p:txBody>
      </p:sp>
      <p:sp>
        <p:nvSpPr>
          <p:cNvPr id="12" name="Oval 11"/>
          <p:cNvSpPr/>
          <p:nvPr/>
        </p:nvSpPr>
        <p:spPr>
          <a:xfrm>
            <a:off x="457200" y="3566160"/>
            <a:ext cx="384048" cy="384048"/>
          </a:xfrm>
          <a:prstGeom prst="ellipse">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3</a:t>
            </a:r>
          </a:p>
        </p:txBody>
      </p:sp>
      <p:sp>
        <p:nvSpPr>
          <p:cNvPr id="13" name="TextBox 12"/>
          <p:cNvSpPr txBox="1"/>
          <p:nvPr/>
        </p:nvSpPr>
        <p:spPr>
          <a:xfrm>
            <a:off x="1051560" y="3529584"/>
            <a:ext cx="4892040" cy="292608"/>
          </a:xfrm>
          <a:prstGeom prst="rect">
            <a:avLst/>
          </a:prstGeom>
          <a:noFill/>
        </p:spPr>
        <p:txBody>
          <a:bodyPr wrap="square" lIns="45720" rIns="45720" tIns="27432" bIns="27432">
            <a:spAutoFit/>
          </a:bodyPr>
          <a:lstStyle/>
          <a:p>
            <a:pPr algn="l"/>
            <a:r>
              <a:rPr sz="1200" b="1" i="0">
                <a:solidFill>
                  <a:srgbClr val="2D2D2D"/>
                </a:solidFill>
                <a:latin typeface="Calibri"/>
              </a:rPr>
              <a:t>SIMULATED WITH FAKER + LLM</a:t>
            </a:r>
          </a:p>
        </p:txBody>
      </p:sp>
      <p:sp>
        <p:nvSpPr>
          <p:cNvPr id="14" name="TextBox 13"/>
          <p:cNvSpPr txBox="1"/>
          <p:nvPr/>
        </p:nvSpPr>
        <p:spPr>
          <a:xfrm>
            <a:off x="1051560" y="3822191"/>
            <a:ext cx="4892040" cy="548640"/>
          </a:xfrm>
          <a:prstGeom prst="rect">
            <a:avLst/>
          </a:prstGeom>
          <a:noFill/>
        </p:spPr>
        <p:txBody>
          <a:bodyPr wrap="square" lIns="45720" rIns="45720" tIns="27432" bIns="27432">
            <a:spAutoFit/>
          </a:bodyPr>
          <a:lstStyle/>
          <a:p>
            <a:pPr algn="l"/>
            <a:r>
              <a:rPr sz="1050" b="0" i="0">
                <a:solidFill>
                  <a:srgbClr val="2D2D2D"/>
                </a:solidFill>
                <a:latin typeface="Calibri"/>
              </a:rPr>
              <a:t>Faker for structural data, LLM personas for realistic copy. Postgres-compatible SQLite for portability.</a:t>
            </a:r>
          </a:p>
        </p:txBody>
      </p:sp>
      <p:sp>
        <p:nvSpPr>
          <p:cNvPr id="15" name="Oval 14"/>
          <p:cNvSpPr/>
          <p:nvPr/>
        </p:nvSpPr>
        <p:spPr>
          <a:xfrm>
            <a:off x="457200" y="4434840"/>
            <a:ext cx="384048" cy="384048"/>
          </a:xfrm>
          <a:prstGeom prst="ellipse">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4</a:t>
            </a:r>
          </a:p>
        </p:txBody>
      </p:sp>
      <p:sp>
        <p:nvSpPr>
          <p:cNvPr id="16" name="TextBox 15"/>
          <p:cNvSpPr txBox="1"/>
          <p:nvPr/>
        </p:nvSpPr>
        <p:spPr>
          <a:xfrm>
            <a:off x="1051560" y="4398264"/>
            <a:ext cx="4892040" cy="292608"/>
          </a:xfrm>
          <a:prstGeom prst="rect">
            <a:avLst/>
          </a:prstGeom>
          <a:noFill/>
        </p:spPr>
        <p:txBody>
          <a:bodyPr wrap="square" lIns="45720" rIns="45720" tIns="27432" bIns="27432">
            <a:spAutoFit/>
          </a:bodyPr>
          <a:lstStyle/>
          <a:p>
            <a:pPr algn="l"/>
            <a:r>
              <a:rPr sz="1200" b="1" i="0">
                <a:solidFill>
                  <a:srgbClr val="2D2D2D"/>
                </a:solidFill>
                <a:latin typeface="Calibri"/>
              </a:rPr>
              <a:t>INJECTED REALISTIC MESS</a:t>
            </a:r>
          </a:p>
        </p:txBody>
      </p:sp>
      <p:sp>
        <p:nvSpPr>
          <p:cNvPr id="17" name="TextBox 16"/>
          <p:cNvSpPr txBox="1"/>
          <p:nvPr/>
        </p:nvSpPr>
        <p:spPr>
          <a:xfrm>
            <a:off x="1051560" y="4690872"/>
            <a:ext cx="4892040" cy="548640"/>
          </a:xfrm>
          <a:prstGeom prst="rect">
            <a:avLst/>
          </a:prstGeom>
          <a:noFill/>
        </p:spPr>
        <p:txBody>
          <a:bodyPr wrap="square" lIns="45720" rIns="45720" tIns="27432" bIns="27432">
            <a:spAutoFit/>
          </a:bodyPr>
          <a:lstStyle/>
          <a:p>
            <a:pPr algn="l"/>
            <a:r>
              <a:rPr sz="1050" b="0" i="0">
                <a:solidFill>
                  <a:srgbClr val="2D2D2D"/>
                </a:solidFill>
                <a:latin typeface="Calibri"/>
              </a:rPr>
              <a:t>2% null emails, 30% degraded DAM assets, expired rights, mislabeled tags. Real retail data is never clean.</a:t>
            </a:r>
          </a:p>
        </p:txBody>
      </p:sp>
      <p:sp>
        <p:nvSpPr>
          <p:cNvPr id="18" name="Oval 17"/>
          <p:cNvSpPr/>
          <p:nvPr/>
        </p:nvSpPr>
        <p:spPr>
          <a:xfrm>
            <a:off x="457200" y="5303520"/>
            <a:ext cx="384048" cy="384048"/>
          </a:xfrm>
          <a:prstGeom prst="ellipse">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Georgia"/>
              </a:rPr>
              <a:t>5</a:t>
            </a:r>
          </a:p>
        </p:txBody>
      </p:sp>
      <p:sp>
        <p:nvSpPr>
          <p:cNvPr id="19" name="TextBox 18"/>
          <p:cNvSpPr txBox="1"/>
          <p:nvPr/>
        </p:nvSpPr>
        <p:spPr>
          <a:xfrm>
            <a:off x="1051560" y="5266944"/>
            <a:ext cx="4892040" cy="292608"/>
          </a:xfrm>
          <a:prstGeom prst="rect">
            <a:avLst/>
          </a:prstGeom>
          <a:noFill/>
        </p:spPr>
        <p:txBody>
          <a:bodyPr wrap="square" lIns="45720" rIns="45720" tIns="27432" bIns="27432">
            <a:spAutoFit/>
          </a:bodyPr>
          <a:lstStyle/>
          <a:p>
            <a:pPr algn="l"/>
            <a:r>
              <a:rPr sz="1200" b="1" i="0">
                <a:solidFill>
                  <a:srgbClr val="2D2D2D"/>
                </a:solidFill>
                <a:latin typeface="Calibri"/>
              </a:rPr>
              <a:t>PULLED REAL PRODUCT PHOTOS</a:t>
            </a:r>
          </a:p>
        </p:txBody>
      </p:sp>
      <p:sp>
        <p:nvSpPr>
          <p:cNvPr id="20" name="TextBox 19"/>
          <p:cNvSpPr txBox="1"/>
          <p:nvPr/>
        </p:nvSpPr>
        <p:spPr>
          <a:xfrm>
            <a:off x="1051560" y="5559552"/>
            <a:ext cx="4892040" cy="548640"/>
          </a:xfrm>
          <a:prstGeom prst="rect">
            <a:avLst/>
          </a:prstGeom>
          <a:noFill/>
        </p:spPr>
        <p:txBody>
          <a:bodyPr wrap="square" lIns="45720" rIns="45720" tIns="27432" bIns="27432">
            <a:spAutoFit/>
          </a:bodyPr>
          <a:lstStyle/>
          <a:p>
            <a:pPr algn="l"/>
            <a:r>
              <a:rPr sz="1050" b="0" i="0">
                <a:solidFill>
                  <a:srgbClr val="2D2D2D"/>
                </a:solidFill>
                <a:latin typeface="Calibri"/>
              </a:rPr>
              <a:t>50 images via the Unsplash API populate the DAM tables, anchoring the visual side of the demo.</a:t>
            </a:r>
          </a:p>
        </p:txBody>
      </p:sp>
      <p:sp>
        <p:nvSpPr>
          <p:cNvPr id="21" name="TextBox 20"/>
          <p:cNvSpPr txBox="1"/>
          <p:nvPr/>
        </p:nvSpPr>
        <p:spPr>
          <a:xfrm>
            <a:off x="6400800" y="1417320"/>
            <a:ext cx="5330952" cy="365760"/>
          </a:xfrm>
          <a:prstGeom prst="rect">
            <a:avLst/>
          </a:prstGeom>
          <a:noFill/>
        </p:spPr>
        <p:txBody>
          <a:bodyPr wrap="square" lIns="45720" rIns="45720" tIns="27432" bIns="27432">
            <a:spAutoFit/>
          </a:bodyPr>
          <a:lstStyle/>
          <a:p>
            <a:pPr algn="l"/>
            <a:r>
              <a:rPr sz="1400" b="1" i="0">
                <a:solidFill>
                  <a:srgbClr val="0B7B8A"/>
                </a:solidFill>
                <a:latin typeface="Calibri"/>
              </a:rPr>
              <a:t>WHAT WE PRODUCED</a:t>
            </a:r>
          </a:p>
        </p:txBody>
      </p:sp>
      <p:graphicFrame>
        <p:nvGraphicFramePr>
          <p:cNvPr id="22" name="Table 21"/>
          <p:cNvGraphicFramePr>
            <a:graphicFrameLocks noGrp="1"/>
          </p:cNvGraphicFramePr>
          <p:nvPr/>
        </p:nvGraphicFramePr>
        <p:xfrm>
          <a:off x="6400800" y="1828800"/>
          <a:ext cx="5330952" cy="3291840"/>
        </p:xfrm>
        <a:graphic>
          <a:graphicData uri="http://schemas.openxmlformats.org/drawingml/2006/table">
            <a:tbl>
              <a:tblPr firstRow="1" bandRow="1">
                <a:tableStyleId>{5C22544A-7EE6-4342-B048-85BDC9FD1C3A}</a:tableStyleId>
              </a:tblPr>
              <a:tblGrid>
                <a:gridCol w="3383280"/>
                <a:gridCol w="1947672"/>
              </a:tblGrid>
              <a:tr h="411480">
                <a:tc>
                  <a:txBody>
                    <a:bodyPr/>
                    <a:lstStyle/>
                    <a:p>
                      <a:pPr algn="l"/>
                      <a:r>
                        <a:rPr sz="1200" b="1" i="0">
                          <a:solidFill>
                            <a:srgbClr val="FFFFFF"/>
                          </a:solidFill>
                          <a:latin typeface="Calibri"/>
                        </a:rPr>
                        <a:t>Table</a:t>
                      </a:r>
                    </a:p>
                  </a:txBody>
                  <a:tcPr marL="91440" marR="91440" marT="45720" marB="45720" anchor="ctr">
                    <a:solidFill>
                      <a:srgbClr val="0B7B8A"/>
                    </a:solidFill>
                  </a:tcPr>
                </a:tc>
                <a:tc>
                  <a:txBody>
                    <a:bodyPr/>
                    <a:lstStyle/>
                    <a:p>
                      <a:pPr algn="r"/>
                      <a:r>
                        <a:rPr sz="1200" b="1" i="0">
                          <a:solidFill>
                            <a:srgbClr val="FFFFFF"/>
                          </a:solidFill>
                          <a:latin typeface="Calibri"/>
                        </a:rPr>
                        <a:t>Rows</a:t>
                      </a:r>
                    </a:p>
                  </a:txBody>
                  <a:tcPr marL="91440" marR="91440" marT="45720" marB="45720" anchor="ctr">
                    <a:solidFill>
                      <a:srgbClr val="0B7B8A"/>
                    </a:solidFill>
                  </a:tcPr>
                </a:tc>
              </a:tr>
              <a:tr h="411480">
                <a:tc>
                  <a:txBody>
                    <a:bodyPr/>
                    <a:lstStyle/>
                    <a:p>
                      <a:pPr algn="l"/>
                      <a:r>
                        <a:rPr sz="1200" b="1" i="0">
                          <a:solidFill>
                            <a:srgbClr val="2D2D2D"/>
                          </a:solidFill>
                          <a:latin typeface="Consolas"/>
                        </a:rPr>
                        <a:t>customers</a:t>
                      </a:r>
                    </a:p>
                  </a:txBody>
                  <a:tcPr marL="91440" marR="91440" marT="45720" marB="45720" anchor="ctr">
                    <a:solidFill>
                      <a:srgbClr val="F8F4EC"/>
                    </a:solidFill>
                  </a:tcPr>
                </a:tc>
                <a:tc>
                  <a:txBody>
                    <a:bodyPr/>
                    <a:lstStyle/>
                    <a:p>
                      <a:pPr algn="r"/>
                      <a:r>
                        <a:rPr sz="1200" b="0" i="0">
                          <a:solidFill>
                            <a:srgbClr val="2D2D2D"/>
                          </a:solidFill>
                          <a:latin typeface="Consolas"/>
                        </a:rPr>
                        <a:t>50,000</a:t>
                      </a:r>
                    </a:p>
                  </a:txBody>
                  <a:tcPr marL="91440" marR="91440" marT="45720" marB="45720" anchor="ctr">
                    <a:solidFill>
                      <a:srgbClr val="F8F4EC"/>
                    </a:solidFill>
                  </a:tcPr>
                </a:tc>
              </a:tr>
              <a:tr h="411480">
                <a:tc>
                  <a:txBody>
                    <a:bodyPr/>
                    <a:lstStyle/>
                    <a:p>
                      <a:pPr algn="l"/>
                      <a:r>
                        <a:rPr sz="1200" b="1" i="0">
                          <a:solidFill>
                            <a:srgbClr val="2D2D2D"/>
                          </a:solidFill>
                          <a:latin typeface="Consolas"/>
                        </a:rPr>
                        <a:t>transactions</a:t>
                      </a:r>
                    </a:p>
                  </a:txBody>
                  <a:tcPr marL="91440" marR="91440" marT="45720" marB="45720" anchor="ctr">
                    <a:solidFill>
                      <a:srgbClr val="F1F7F8"/>
                    </a:solidFill>
                  </a:tcPr>
                </a:tc>
                <a:tc>
                  <a:txBody>
                    <a:bodyPr/>
                    <a:lstStyle/>
                    <a:p>
                      <a:pPr algn="r"/>
                      <a:r>
                        <a:rPr sz="1200" b="0" i="0">
                          <a:solidFill>
                            <a:srgbClr val="2D2D2D"/>
                          </a:solidFill>
                          <a:latin typeface="Consolas"/>
                        </a:rPr>
                        <a:t>417,180</a:t>
                      </a:r>
                    </a:p>
                  </a:txBody>
                  <a:tcPr marL="91440" marR="91440" marT="45720" marB="45720" anchor="ctr">
                    <a:solidFill>
                      <a:srgbClr val="F1F7F8"/>
                    </a:solidFill>
                  </a:tcPr>
                </a:tc>
              </a:tr>
              <a:tr h="411480">
                <a:tc>
                  <a:txBody>
                    <a:bodyPr/>
                    <a:lstStyle/>
                    <a:p>
                      <a:pPr algn="l"/>
                      <a:r>
                        <a:rPr sz="1200" b="1" i="0">
                          <a:solidFill>
                            <a:srgbClr val="2D2D2D"/>
                          </a:solidFill>
                          <a:latin typeface="Consolas"/>
                        </a:rPr>
                        <a:t>sku_catalog</a:t>
                      </a:r>
                    </a:p>
                  </a:txBody>
                  <a:tcPr marL="91440" marR="91440" marT="45720" marB="45720" anchor="ctr">
                    <a:solidFill>
                      <a:srgbClr val="F8F4EC"/>
                    </a:solidFill>
                  </a:tcPr>
                </a:tc>
                <a:tc>
                  <a:txBody>
                    <a:bodyPr/>
                    <a:lstStyle/>
                    <a:p>
                      <a:pPr algn="r"/>
                      <a:r>
                        <a:rPr sz="1200" b="0" i="0">
                          <a:solidFill>
                            <a:srgbClr val="2D2D2D"/>
                          </a:solidFill>
                          <a:latin typeface="Consolas"/>
                        </a:rPr>
                        <a:t>2,000</a:t>
                      </a:r>
                    </a:p>
                  </a:txBody>
                  <a:tcPr marL="91440" marR="91440" marT="45720" marB="45720" anchor="ctr">
                    <a:solidFill>
                      <a:srgbClr val="F8F4EC"/>
                    </a:solidFill>
                  </a:tcPr>
                </a:tc>
              </a:tr>
              <a:tr h="411480">
                <a:tc>
                  <a:txBody>
                    <a:bodyPr/>
                    <a:lstStyle/>
                    <a:p>
                      <a:pPr algn="l"/>
                      <a:r>
                        <a:rPr sz="1200" b="1" i="0">
                          <a:solidFill>
                            <a:srgbClr val="2D2D2D"/>
                          </a:solidFill>
                          <a:latin typeface="Consolas"/>
                        </a:rPr>
                        <a:t>regional_pricing</a:t>
                      </a:r>
                    </a:p>
                  </a:txBody>
                  <a:tcPr marL="91440" marR="91440" marT="45720" marB="45720" anchor="ctr">
                    <a:solidFill>
                      <a:srgbClr val="F1F7F8"/>
                    </a:solidFill>
                  </a:tcPr>
                </a:tc>
                <a:tc>
                  <a:txBody>
                    <a:bodyPr/>
                    <a:lstStyle/>
                    <a:p>
                      <a:pPr algn="r"/>
                      <a:r>
                        <a:rPr sz="1200" b="0" i="0">
                          <a:solidFill>
                            <a:srgbClr val="2D2D2D"/>
                          </a:solidFill>
                          <a:latin typeface="Consolas"/>
                        </a:rPr>
                        <a:t>20,000</a:t>
                      </a:r>
                    </a:p>
                  </a:txBody>
                  <a:tcPr marL="91440" marR="91440" marT="45720" marB="45720" anchor="ctr">
                    <a:solidFill>
                      <a:srgbClr val="F1F7F8"/>
                    </a:solidFill>
                  </a:tcPr>
                </a:tc>
              </a:tr>
              <a:tr h="411480">
                <a:tc>
                  <a:txBody>
                    <a:bodyPr/>
                    <a:lstStyle/>
                    <a:p>
                      <a:pPr algn="l"/>
                      <a:r>
                        <a:rPr sz="1200" b="1" i="0">
                          <a:solidFill>
                            <a:srgbClr val="2D2D2D"/>
                          </a:solidFill>
                          <a:latin typeface="Consolas"/>
                        </a:rPr>
                        <a:t>dam_assets</a:t>
                      </a:r>
                    </a:p>
                  </a:txBody>
                  <a:tcPr marL="91440" marR="91440" marT="45720" marB="45720" anchor="ctr">
                    <a:solidFill>
                      <a:srgbClr val="F8F4EC"/>
                    </a:solidFill>
                  </a:tcPr>
                </a:tc>
                <a:tc>
                  <a:txBody>
                    <a:bodyPr/>
                    <a:lstStyle/>
                    <a:p>
                      <a:pPr algn="r"/>
                      <a:r>
                        <a:rPr sz="1200" b="0" i="0">
                          <a:solidFill>
                            <a:srgbClr val="2D2D2D"/>
                          </a:solidFill>
                          <a:latin typeface="Consolas"/>
                        </a:rPr>
                        <a:t>5,000</a:t>
                      </a:r>
                    </a:p>
                  </a:txBody>
                  <a:tcPr marL="91440" marR="91440" marT="45720" marB="45720" anchor="ctr">
                    <a:solidFill>
                      <a:srgbClr val="F8F4EC"/>
                    </a:solidFill>
                  </a:tcPr>
                </a:tc>
              </a:tr>
              <a:tr h="411480">
                <a:tc>
                  <a:txBody>
                    <a:bodyPr/>
                    <a:lstStyle/>
                    <a:p>
                      <a:pPr algn="l"/>
                      <a:r>
                        <a:rPr sz="1200" b="1" i="0">
                          <a:solidFill>
                            <a:srgbClr val="2D2D2D"/>
                          </a:solidFill>
                          <a:latin typeface="Consolas"/>
                        </a:rPr>
                        <a:t>campaigns</a:t>
                      </a:r>
                    </a:p>
                  </a:txBody>
                  <a:tcPr marL="91440" marR="91440" marT="45720" marB="45720" anchor="ctr">
                    <a:solidFill>
                      <a:srgbClr val="F1F7F8"/>
                    </a:solidFill>
                  </a:tcPr>
                </a:tc>
                <a:tc>
                  <a:txBody>
                    <a:bodyPr/>
                    <a:lstStyle/>
                    <a:p>
                      <a:pPr algn="r"/>
                      <a:r>
                        <a:rPr sz="1200" b="0" i="0">
                          <a:solidFill>
                            <a:srgbClr val="2D2D2D"/>
                          </a:solidFill>
                          <a:latin typeface="Consolas"/>
                        </a:rPr>
                        <a:t>12</a:t>
                      </a:r>
                    </a:p>
                  </a:txBody>
                  <a:tcPr marL="91440" marR="91440" marT="45720" marB="45720" anchor="ctr">
                    <a:solidFill>
                      <a:srgbClr val="F1F7F8"/>
                    </a:solidFill>
                  </a:tcPr>
                </a:tc>
              </a:tr>
              <a:tr h="411480">
                <a:tc>
                  <a:txBody>
                    <a:bodyPr/>
                    <a:lstStyle/>
                    <a:p>
                      <a:pPr algn="l"/>
                      <a:r>
                        <a:rPr sz="1200" b="1" i="0">
                          <a:solidFill>
                            <a:srgbClr val="2D2D2D"/>
                          </a:solidFill>
                          <a:latin typeface="Consolas"/>
                        </a:rPr>
                        <a:t>campaign_performance</a:t>
                      </a:r>
                    </a:p>
                  </a:txBody>
                  <a:tcPr marL="91440" marR="91440" marT="45720" marB="45720" anchor="ctr">
                    <a:solidFill>
                      <a:srgbClr val="F8F4EC"/>
                    </a:solidFill>
                  </a:tcPr>
                </a:tc>
                <a:tc>
                  <a:txBody>
                    <a:bodyPr/>
                    <a:lstStyle/>
                    <a:p>
                      <a:pPr algn="r"/>
                      <a:r>
                        <a:rPr sz="1200" b="0" i="0">
                          <a:solidFill>
                            <a:srgbClr val="2D2D2D"/>
                          </a:solidFill>
                          <a:latin typeface="Consolas"/>
                        </a:rPr>
                        <a:t>2,920</a:t>
                      </a:r>
                    </a:p>
                  </a:txBody>
                  <a:tcPr marL="91440" marR="91440" marT="45720" marB="45720" anchor="ctr">
                    <a:solidFill>
                      <a:srgbClr val="F8F4EC"/>
                    </a:solidFill>
                  </a:tcPr>
                </a:tc>
              </a:tr>
            </a:tbl>
          </a:graphicData>
        </a:graphic>
      </p:graphicFrame>
      <p:sp>
        <p:nvSpPr>
          <p:cNvPr id="23" name="TextBox 22"/>
          <p:cNvSpPr txBox="1"/>
          <p:nvPr/>
        </p:nvSpPr>
        <p:spPr>
          <a:xfrm>
            <a:off x="6400800" y="5257800"/>
            <a:ext cx="5330952" cy="914400"/>
          </a:xfrm>
          <a:prstGeom prst="rect">
            <a:avLst/>
          </a:prstGeom>
          <a:noFill/>
        </p:spPr>
        <p:txBody>
          <a:bodyPr wrap="square" lIns="45720" rIns="45720" tIns="27432" bIns="27432">
            <a:spAutoFit/>
          </a:bodyPr>
          <a:lstStyle/>
          <a:p>
            <a:pPr algn="l">
              <a:spcAft>
                <a:spcPts val="200"/>
              </a:spcAft>
            </a:pPr>
            <a:r>
              <a:rPr sz="1100" b="0" i="1">
                <a:solidFill>
                  <a:srgbClr val="2D2D2D"/>
                </a:solidFill>
                <a:latin typeface="Calibri"/>
              </a:rPr>
              <a:t>All 480K+ rows seeded for reproducibility (seed=42).</a:t>
            </a:r>
          </a:p>
          <a:p>
            <a:pPr algn="l"/>
            <a:r>
              <a:rPr sz="1100" b="0" i="1">
                <a:solidFill>
                  <a:srgbClr val="2D2D2D"/>
                </a:solidFill>
                <a:latin typeface="Calibri"/>
              </a:rPr>
              <a:t>Database lives in data/macys.db, queryable from any of our skills.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45720" rIns="45720" tIns="27432" bIns="27432">
            <a:spAutoFit/>
          </a:bodyPr>
          <a:lstStyle/>
          <a:p>
            <a:pPr algn="ctr"/>
            <a:r>
              <a:rPr sz="2800" b="1" i="0">
                <a:solidFill>
                  <a:srgbClr val="2D2D2D"/>
                </a:solidFill>
                <a:latin typeface="Georgia"/>
              </a:rPr>
              <a:t>Skill 1 Live: Audience Segment Builder</a:t>
            </a:r>
          </a:p>
        </p:txBody>
      </p:sp>
      <p:sp>
        <p:nvSpPr>
          <p:cNvPr id="4" name="TextBox 3"/>
          <p:cNvSpPr txBox="1"/>
          <p:nvPr/>
        </p:nvSpPr>
        <p:spPr>
          <a:xfrm>
            <a:off x="457200" y="868680"/>
            <a:ext cx="11277295" cy="411480"/>
          </a:xfrm>
          <a:prstGeom prst="rect">
            <a:avLst/>
          </a:prstGeom>
          <a:noFill/>
        </p:spPr>
        <p:txBody>
          <a:bodyPr wrap="square" lIns="45720" rIns="45720" tIns="27432" bIns="27432">
            <a:spAutoFit/>
          </a:bodyPr>
          <a:lstStyle/>
          <a:p>
            <a:pPr algn="ctr"/>
            <a:r>
              <a:rPr sz="1500" b="0" i="1">
                <a:solidFill>
                  <a:srgbClr val="0B7B8A"/>
                </a:solidFill>
                <a:latin typeface="Calibri"/>
              </a:rPr>
              <a:t>From Sarah's question to a real segment in 90 seconds</a:t>
            </a:r>
          </a:p>
        </p:txBody>
      </p:sp>
      <p:sp>
        <p:nvSpPr>
          <p:cNvPr id="5" name="TextBox 4"/>
          <p:cNvSpPr txBox="1"/>
          <p:nvPr/>
        </p:nvSpPr>
        <p:spPr>
          <a:xfrm>
            <a:off x="914400" y="1417320"/>
            <a:ext cx="10360152" cy="292608"/>
          </a:xfrm>
          <a:prstGeom prst="rect">
            <a:avLst/>
          </a:prstGeom>
          <a:noFill/>
        </p:spPr>
        <p:txBody>
          <a:bodyPr wrap="square" lIns="45720" rIns="45720" tIns="27432" bIns="27432">
            <a:spAutoFit/>
          </a:bodyPr>
          <a:lstStyle/>
          <a:p>
            <a:pPr algn="l"/>
            <a:r>
              <a:rPr sz="1200" b="1" i="0">
                <a:solidFill>
                  <a:srgbClr val="0B7B8A"/>
                </a:solidFill>
                <a:latin typeface="Calibri"/>
              </a:rPr>
              <a:t>SARAH'S INPUT</a:t>
            </a:r>
          </a:p>
        </p:txBody>
      </p:sp>
      <p:sp>
        <p:nvSpPr>
          <p:cNvPr id="6" name="Rounded Rectangle 5"/>
          <p:cNvSpPr/>
          <p:nvPr/>
        </p:nvSpPr>
        <p:spPr>
          <a:xfrm>
            <a:off x="914400" y="1728216"/>
            <a:ext cx="10360152" cy="502920"/>
          </a:xfrm>
          <a:prstGeom prst="roundRect">
            <a:avLst>
              <a:gd name="adj" fmla="val 15000"/>
            </a:avLst>
          </a:prstGeom>
          <a:solidFill>
            <a:srgbClr val="1F2E3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1783080"/>
            <a:ext cx="9994392" cy="411480"/>
          </a:xfrm>
          <a:prstGeom prst="rect">
            <a:avLst/>
          </a:prstGeom>
          <a:noFill/>
        </p:spPr>
        <p:txBody>
          <a:bodyPr wrap="square" lIns="45720" rIns="45720" tIns="27432" bIns="27432">
            <a:spAutoFit/>
          </a:bodyPr>
          <a:lstStyle/>
          <a:p>
            <a:pPr algn="l"/>
            <a:r>
              <a:rPr sz="1300" b="0" i="0">
                <a:solidFill>
                  <a:srgbClr val="FFFFFF"/>
                </a:solidFill>
                <a:latin typeface="Consolas"/>
              </a:rPr>
              <a:t>$ python skills/audience-segment-builder/segment.py "Mother's Day Beauty Event"</a:t>
            </a:r>
          </a:p>
        </p:txBody>
      </p:sp>
      <p:sp>
        <p:nvSpPr>
          <p:cNvPr id="8" name="TextBox 7"/>
          <p:cNvSpPr txBox="1"/>
          <p:nvPr/>
        </p:nvSpPr>
        <p:spPr>
          <a:xfrm>
            <a:off x="914400" y="2331720"/>
            <a:ext cx="10360152" cy="292608"/>
          </a:xfrm>
          <a:prstGeom prst="rect">
            <a:avLst/>
          </a:prstGeom>
          <a:noFill/>
        </p:spPr>
        <p:txBody>
          <a:bodyPr wrap="square" lIns="45720" rIns="45720" tIns="27432" bIns="27432">
            <a:spAutoFit/>
          </a:bodyPr>
          <a:lstStyle/>
          <a:p>
            <a:pPr algn="l"/>
            <a:r>
              <a:rPr sz="1200" b="1" i="0">
                <a:solidFill>
                  <a:srgbClr val="0B7B8A"/>
                </a:solidFill>
                <a:latin typeface="Calibri"/>
              </a:rPr>
              <a:t>WHAT THE SKILL DOES</a:t>
            </a:r>
          </a:p>
        </p:txBody>
      </p:sp>
      <p:sp>
        <p:nvSpPr>
          <p:cNvPr id="9" name="TextBox 8"/>
          <p:cNvSpPr txBox="1"/>
          <p:nvPr/>
        </p:nvSpPr>
        <p:spPr>
          <a:xfrm>
            <a:off x="914400" y="2642615"/>
            <a:ext cx="10360152" cy="914400"/>
          </a:xfrm>
          <a:prstGeom prst="rect">
            <a:avLst/>
          </a:prstGeom>
          <a:noFill/>
        </p:spPr>
        <p:txBody>
          <a:bodyPr wrap="square" lIns="45720" rIns="45720" tIns="27432" bIns="27432">
            <a:spAutoFit/>
          </a:bodyPr>
          <a:lstStyle/>
          <a:p>
            <a:pPr algn="l">
              <a:spcAft>
                <a:spcPts val="400"/>
              </a:spcAft>
            </a:pPr>
            <a:r>
              <a:rPr sz="1400" b="0" i="0">
                <a:solidFill>
                  <a:srgbClr val="2D2D2D"/>
                </a:solidFill>
                <a:latin typeface="Calibri"/>
              </a:rPr>
              <a:t>•  Connects to data/macys.db</a:t>
            </a:r>
          </a:p>
          <a:p>
            <a:pPr algn="l">
              <a:spcAft>
                <a:spcPts val="400"/>
              </a:spcAft>
            </a:pPr>
            <a:r>
              <a:rPr sz="1400" b="0" i="0">
                <a:solidFill>
                  <a:srgbClr val="2D2D2D"/>
                </a:solidFill>
                <a:latin typeface="Calibri"/>
              </a:rPr>
              <a:t>•  Joins customers, transactions, and sku_catalog tables</a:t>
            </a:r>
          </a:p>
          <a:p>
            <a:pPr algn="l">
              <a:spcAft>
                <a:spcPts val="400"/>
              </a:spcAft>
            </a:pPr>
            <a:r>
              <a:rPr sz="1400" b="0" i="0">
                <a:solidFill>
                  <a:srgbClr val="2D2D2D"/>
                </a:solidFill>
                <a:latin typeface="Calibri"/>
              </a:rPr>
              <a:t>•  Returns 3 ranked segment options with real demographics</a:t>
            </a:r>
          </a:p>
        </p:txBody>
      </p:sp>
      <p:sp>
        <p:nvSpPr>
          <p:cNvPr id="10" name="TextBox 9"/>
          <p:cNvSpPr txBox="1"/>
          <p:nvPr/>
        </p:nvSpPr>
        <p:spPr>
          <a:xfrm>
            <a:off x="914400" y="3657600"/>
            <a:ext cx="10360152" cy="292608"/>
          </a:xfrm>
          <a:prstGeom prst="rect">
            <a:avLst/>
          </a:prstGeom>
          <a:noFill/>
        </p:spPr>
        <p:txBody>
          <a:bodyPr wrap="square" lIns="45720" rIns="45720" tIns="27432" bIns="27432">
            <a:spAutoFit/>
          </a:bodyPr>
          <a:lstStyle/>
          <a:p>
            <a:pPr algn="l"/>
            <a:r>
              <a:rPr sz="1200" b="1" i="0">
                <a:solidFill>
                  <a:srgbClr val="0B7B8A"/>
                </a:solidFill>
                <a:latin typeface="Calibri"/>
              </a:rPr>
              <a:t>REAL OUTPUT FROM OUR DATABASE</a:t>
            </a:r>
          </a:p>
        </p:txBody>
      </p:sp>
      <p:graphicFrame>
        <p:nvGraphicFramePr>
          <p:cNvPr id="11" name="Table 10"/>
          <p:cNvGraphicFramePr>
            <a:graphicFrameLocks noGrp="1"/>
          </p:cNvGraphicFramePr>
          <p:nvPr/>
        </p:nvGraphicFramePr>
        <p:xfrm>
          <a:off x="914400" y="3986784"/>
          <a:ext cx="10360152" cy="1691640"/>
        </p:xfrm>
        <a:graphic>
          <a:graphicData uri="http://schemas.openxmlformats.org/drawingml/2006/table">
            <a:tbl>
              <a:tblPr firstRow="1" bandRow="1">
                <a:tableStyleId>{5C22544A-7EE6-4342-B048-85BDC9FD1C3A}</a:tableStyleId>
              </a:tblPr>
              <a:tblGrid>
                <a:gridCol w="5029200"/>
                <a:gridCol w="2587752"/>
                <a:gridCol w="2743200"/>
              </a:tblGrid>
              <a:tr h="422910">
                <a:tc>
                  <a:txBody>
                    <a:bodyPr/>
                    <a:lstStyle/>
                    <a:p>
                      <a:pPr algn="l"/>
                      <a:r>
                        <a:rPr sz="1300" b="1" i="0">
                          <a:solidFill>
                            <a:srgbClr val="FFFFFF"/>
                          </a:solidFill>
                          <a:latin typeface="Calibri"/>
                        </a:rPr>
                        <a:t>Segment</a:t>
                      </a:r>
                    </a:p>
                  </a:txBody>
                  <a:tcPr marL="91440" marR="91440" marT="45720" marB="45720" anchor="ctr">
                    <a:solidFill>
                      <a:srgbClr val="0B7B8A"/>
                    </a:solidFill>
                  </a:tcPr>
                </a:tc>
                <a:tc>
                  <a:txBody>
                    <a:bodyPr/>
                    <a:lstStyle/>
                    <a:p>
                      <a:pPr algn="r"/>
                      <a:r>
                        <a:rPr sz="1300" b="1" i="0">
                          <a:solidFill>
                            <a:srgbClr val="FFFFFF"/>
                          </a:solidFill>
                          <a:latin typeface="Calibri"/>
                        </a:rPr>
                        <a:t>Customers</a:t>
                      </a:r>
                    </a:p>
                  </a:txBody>
                  <a:tcPr marL="91440" marR="91440" marT="45720" marB="45720" anchor="ctr">
                    <a:solidFill>
                      <a:srgbClr val="0B7B8A"/>
                    </a:solidFill>
                  </a:tcPr>
                </a:tc>
                <a:tc>
                  <a:txBody>
                    <a:bodyPr/>
                    <a:lstStyle/>
                    <a:p>
                      <a:pPr algn="r"/>
                      <a:r>
                        <a:rPr sz="1300" b="1" i="0">
                          <a:solidFill>
                            <a:srgbClr val="FFFFFF"/>
                          </a:solidFill>
                          <a:latin typeface="Calibri"/>
                        </a:rPr>
                        <a:t>Avg Spend</a:t>
                      </a:r>
                    </a:p>
                  </a:txBody>
                  <a:tcPr marL="91440" marR="91440" marT="45720" marB="45720" anchor="ctr">
                    <a:solidFill>
                      <a:srgbClr val="0B7B8A"/>
                    </a:solidFill>
                  </a:tcPr>
                </a:tc>
              </a:tr>
              <a:tr h="422910">
                <a:tc>
                  <a:txBody>
                    <a:bodyPr/>
                    <a:lstStyle/>
                    <a:p>
                      <a:pPr algn="l"/>
                      <a:r>
                        <a:rPr sz="1300" b="1" i="0">
                          <a:solidFill>
                            <a:srgbClr val="2D2D2D"/>
                          </a:solidFill>
                          <a:latin typeface="Calibri"/>
                        </a:rPr>
                        <a:t>Beauty Loyalists</a:t>
                      </a:r>
                    </a:p>
                  </a:txBody>
                  <a:tcPr marL="91440" marR="91440" marT="45720" marB="45720" anchor="ctr">
                    <a:solidFill>
                      <a:srgbClr val="F8F4EC"/>
                    </a:solidFill>
                  </a:tcPr>
                </a:tc>
                <a:tc>
                  <a:txBody>
                    <a:bodyPr/>
                    <a:lstStyle/>
                    <a:p>
                      <a:pPr algn="r"/>
                      <a:r>
                        <a:rPr sz="1300" b="0" i="0">
                          <a:solidFill>
                            <a:srgbClr val="2D2D2D"/>
                          </a:solidFill>
                          <a:latin typeface="Consolas"/>
                        </a:rPr>
                        <a:t>9,157</a:t>
                      </a:r>
                    </a:p>
                  </a:txBody>
                  <a:tcPr marL="91440" marR="91440" marT="45720" marB="45720" anchor="ctr">
                    <a:solidFill>
                      <a:srgbClr val="F8F4EC"/>
                    </a:solidFill>
                  </a:tcPr>
                </a:tc>
                <a:tc>
                  <a:txBody>
                    <a:bodyPr/>
                    <a:lstStyle/>
                    <a:p>
                      <a:pPr algn="r"/>
                      <a:r>
                        <a:rPr sz="1300" b="0" i="0">
                          <a:solidFill>
                            <a:srgbClr val="2D2D2D"/>
                          </a:solidFill>
                          <a:latin typeface="Consolas"/>
                        </a:rPr>
                        <a:t>$2,980</a:t>
                      </a:r>
                    </a:p>
                  </a:txBody>
                  <a:tcPr marL="91440" marR="91440" marT="45720" marB="45720" anchor="ctr">
                    <a:solidFill>
                      <a:srgbClr val="F8F4EC"/>
                    </a:solidFill>
                  </a:tcPr>
                </a:tc>
              </a:tr>
              <a:tr h="422910">
                <a:tc>
                  <a:txBody>
                    <a:bodyPr/>
                    <a:lstStyle/>
                    <a:p>
                      <a:pPr algn="l"/>
                      <a:r>
                        <a:rPr sz="1300" b="1" i="0">
                          <a:solidFill>
                            <a:srgbClr val="2D2D2D"/>
                          </a:solidFill>
                          <a:latin typeface="Calibri"/>
                        </a:rPr>
                        <a:t>Gift Givers</a:t>
                      </a:r>
                    </a:p>
                  </a:txBody>
                  <a:tcPr marL="91440" marR="91440" marT="45720" marB="45720" anchor="ctr">
                    <a:solidFill>
                      <a:srgbClr val="F1F7F8"/>
                    </a:solidFill>
                  </a:tcPr>
                </a:tc>
                <a:tc>
                  <a:txBody>
                    <a:bodyPr/>
                    <a:lstStyle/>
                    <a:p>
                      <a:pPr algn="r"/>
                      <a:r>
                        <a:rPr sz="1300" b="0" i="0">
                          <a:solidFill>
                            <a:srgbClr val="2D2D2D"/>
                          </a:solidFill>
                          <a:latin typeface="Consolas"/>
                        </a:rPr>
                        <a:t>22,388</a:t>
                      </a:r>
                    </a:p>
                  </a:txBody>
                  <a:tcPr marL="91440" marR="91440" marT="45720" marB="45720" anchor="ctr">
                    <a:solidFill>
                      <a:srgbClr val="F1F7F8"/>
                    </a:solidFill>
                  </a:tcPr>
                </a:tc>
                <a:tc>
                  <a:txBody>
                    <a:bodyPr/>
                    <a:lstStyle/>
                    <a:p>
                      <a:pPr algn="r"/>
                      <a:r>
                        <a:rPr sz="1300" b="0" i="0">
                          <a:solidFill>
                            <a:srgbClr val="2D2D2D"/>
                          </a:solidFill>
                          <a:latin typeface="Consolas"/>
                        </a:rPr>
                        <a:t>$1,875</a:t>
                      </a:r>
                    </a:p>
                  </a:txBody>
                  <a:tcPr marL="91440" marR="91440" marT="45720" marB="45720" anchor="ctr">
                    <a:solidFill>
                      <a:srgbClr val="F1F7F8"/>
                    </a:solidFill>
                  </a:tcPr>
                </a:tc>
              </a:tr>
              <a:tr h="422910">
                <a:tc>
                  <a:txBody>
                    <a:bodyPr/>
                    <a:lstStyle/>
                    <a:p>
                      <a:pPr algn="l"/>
                      <a:r>
                        <a:rPr sz="1300" b="1" i="0">
                          <a:solidFill>
                            <a:srgbClr val="2D2D2D"/>
                          </a:solidFill>
                          <a:latin typeface="Calibri"/>
                        </a:rPr>
                        <a:t>First-Time Buyers</a:t>
                      </a:r>
                    </a:p>
                  </a:txBody>
                  <a:tcPr marL="91440" marR="91440" marT="45720" marB="45720" anchor="ctr">
                    <a:solidFill>
                      <a:srgbClr val="F8F4EC"/>
                    </a:solidFill>
                  </a:tcPr>
                </a:tc>
                <a:tc>
                  <a:txBody>
                    <a:bodyPr/>
                    <a:lstStyle/>
                    <a:p>
                      <a:pPr algn="r"/>
                      <a:r>
                        <a:rPr sz="1300" b="0" i="0">
                          <a:solidFill>
                            <a:srgbClr val="2D2D2D"/>
                          </a:solidFill>
                          <a:latin typeface="Consolas"/>
                        </a:rPr>
                        <a:t>13,378</a:t>
                      </a:r>
                    </a:p>
                  </a:txBody>
                  <a:tcPr marL="91440" marR="91440" marT="45720" marB="45720" anchor="ctr">
                    <a:solidFill>
                      <a:srgbClr val="F8F4EC"/>
                    </a:solidFill>
                  </a:tcPr>
                </a:tc>
                <a:tc>
                  <a:txBody>
                    <a:bodyPr/>
                    <a:lstStyle/>
                    <a:p>
                      <a:pPr algn="r"/>
                      <a:r>
                        <a:rPr sz="1300" b="0" i="0">
                          <a:solidFill>
                            <a:srgbClr val="2D2D2D"/>
                          </a:solidFill>
                          <a:latin typeface="Consolas"/>
                        </a:rPr>
                        <a:t>$1,138</a:t>
                      </a:r>
                    </a:p>
                  </a:txBody>
                  <a:tcPr marL="91440" marR="91440" marT="45720" marB="45720" anchor="ctr">
                    <a:solidFill>
                      <a:srgbClr val="F8F4EC"/>
                    </a:solidFill>
                  </a:tcPr>
                </a:tc>
              </a:tr>
            </a:tbl>
          </a:graphicData>
        </a:graphic>
      </p:graphicFrame>
      <p:sp>
        <p:nvSpPr>
          <p:cNvPr id="12" name="TextBox 11"/>
          <p:cNvSpPr txBox="1"/>
          <p:nvPr/>
        </p:nvSpPr>
        <p:spPr>
          <a:xfrm>
            <a:off x="457200" y="6126480"/>
            <a:ext cx="11277295" cy="457200"/>
          </a:xfrm>
          <a:prstGeom prst="rect">
            <a:avLst/>
          </a:prstGeom>
          <a:noFill/>
        </p:spPr>
        <p:txBody>
          <a:bodyPr wrap="square" lIns="45720" rIns="45720" tIns="27432" bIns="27432">
            <a:spAutoFit/>
          </a:bodyPr>
          <a:lstStyle/>
          <a:p>
            <a:pPr algn="ctr"/>
            <a:r>
              <a:rPr sz="1300" b="0" i="1">
                <a:solidFill>
                  <a:srgbClr val="0B7B8A"/>
                </a:solidFill>
                <a:latin typeface="Calibri"/>
              </a:rPr>
              <a:t>4 hours of manual Excel work becomes 90 seconds. 18 passing tests. Live demo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640080"/>
          </a:xfrm>
          <a:prstGeom prst="rect">
            <a:avLst/>
          </a:prstGeom>
          <a:noFill/>
        </p:spPr>
        <p:txBody>
          <a:bodyPr wrap="square" lIns="45720" rIns="45720" tIns="27432" bIns="27432">
            <a:spAutoFit/>
          </a:bodyPr>
          <a:lstStyle/>
          <a:p>
            <a:pPr algn="ctr"/>
            <a:r>
              <a:rPr sz="3000" b="1" i="0">
                <a:solidFill>
                  <a:srgbClr val="2D2D2D"/>
                </a:solidFill>
                <a:latin typeface="Georgia"/>
              </a:rPr>
              <a:t>What is Next</a:t>
            </a:r>
          </a:p>
        </p:txBody>
      </p:sp>
      <p:sp>
        <p:nvSpPr>
          <p:cNvPr id="4" name="Rectangle 3"/>
          <p:cNvSpPr/>
          <p:nvPr/>
        </p:nvSpPr>
        <p:spPr>
          <a:xfrm>
            <a:off x="5641848" y="960120"/>
            <a:ext cx="914400" cy="36576"/>
          </a:xfrm>
          <a:prstGeom prst="rect">
            <a:avLst/>
          </a:prstGeom>
          <a:solidFill>
            <a:srgbClr val="0B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5303520" cy="457200"/>
          </a:xfrm>
          <a:prstGeom prst="rect">
            <a:avLst/>
          </a:prstGeom>
          <a:noFill/>
        </p:spPr>
        <p:txBody>
          <a:bodyPr wrap="square" lIns="45720" rIns="45720" tIns="27432" bIns="27432">
            <a:spAutoFit/>
          </a:bodyPr>
          <a:lstStyle/>
          <a:p>
            <a:pPr algn="l"/>
            <a:r>
              <a:rPr sz="1600" b="1" i="0">
                <a:solidFill>
                  <a:srgbClr val="0B7B8A"/>
                </a:solidFill>
                <a:latin typeface="Calibri"/>
              </a:rPr>
              <a:t>BUILDING THIS WEEK</a:t>
            </a:r>
          </a:p>
        </p:txBody>
      </p:sp>
      <p:sp>
        <p:nvSpPr>
          <p:cNvPr id="6" name="TextBox 5"/>
          <p:cNvSpPr txBox="1"/>
          <p:nvPr/>
        </p:nvSpPr>
        <p:spPr>
          <a:xfrm>
            <a:off x="640080" y="1965960"/>
            <a:ext cx="5303520" cy="3200400"/>
          </a:xfrm>
          <a:prstGeom prst="rect">
            <a:avLst/>
          </a:prstGeom>
          <a:noFill/>
        </p:spPr>
        <p:txBody>
          <a:bodyPr wrap="square" lIns="45720" rIns="45720" tIns="27432" bIns="27432">
            <a:spAutoFit/>
          </a:bodyPr>
          <a:lstStyle/>
          <a:p>
            <a:pPr algn="l">
              <a:spcAft>
                <a:spcPts val="800"/>
              </a:spcAft>
            </a:pPr>
            <a:r>
              <a:rPr sz="1500" b="1" i="0">
                <a:solidFill>
                  <a:srgbClr val="2E8B57"/>
                </a:solidFill>
                <a:latin typeface="Calibri"/>
              </a:rPr>
              <a:t>✓  </a:t>
            </a:r>
            <a:r>
              <a:rPr sz="1400" b="1" i="0">
                <a:solidFill>
                  <a:srgbClr val="2D2D2D"/>
                </a:solidFill>
                <a:latin typeface="Calibri"/>
              </a:rPr>
              <a:t>Skill 1: Audience Segment Builder  </a:t>
            </a:r>
            <a:r>
              <a:rPr sz="1200" b="0" i="1">
                <a:solidFill>
                  <a:srgbClr val="2E8B57"/>
                </a:solidFill>
                <a:latin typeface="Calibri"/>
              </a:rPr>
              <a:t>(DONE, demo today)</a:t>
            </a:r>
          </a:p>
          <a:p>
            <a:pPr algn="l">
              <a:spcAft>
                <a:spcPts val="800"/>
              </a:spcAft>
            </a:pPr>
            <a:r>
              <a:rPr sz="1500" b="1" i="0">
                <a:solidFill>
                  <a:srgbClr val="D49A12"/>
                </a:solidFill>
                <a:latin typeface="Calibri"/>
              </a:rPr>
              <a:t>○  </a:t>
            </a:r>
            <a:r>
              <a:rPr sz="1400" b="1" i="0">
                <a:solidFill>
                  <a:srgbClr val="2D2D2D"/>
                </a:solidFill>
                <a:latin typeface="Calibri"/>
              </a:rPr>
              <a:t>Skill 2: DAM Asset Finder  </a:t>
            </a:r>
            <a:r>
              <a:rPr sz="1200" b="0" i="1">
                <a:solidFill>
                  <a:srgbClr val="D49A12"/>
                </a:solidFill>
                <a:latin typeface="Calibri"/>
              </a:rPr>
              <a:t>(in progress)</a:t>
            </a:r>
          </a:p>
          <a:p>
            <a:pPr algn="l">
              <a:spcAft>
                <a:spcPts val="800"/>
              </a:spcAft>
            </a:pPr>
            <a:r>
              <a:rPr sz="1500" b="1" i="0">
                <a:solidFill>
                  <a:srgbClr val="D49A12"/>
                </a:solidFill>
                <a:latin typeface="Calibri"/>
              </a:rPr>
              <a:t>○  </a:t>
            </a:r>
            <a:r>
              <a:rPr sz="1400" b="1" i="0">
                <a:solidFill>
                  <a:srgbClr val="2D2D2D"/>
                </a:solidFill>
                <a:latin typeface="Calibri"/>
              </a:rPr>
              <a:t>Skill 3: Localization Generator  </a:t>
            </a:r>
            <a:r>
              <a:rPr sz="1200" b="0" i="1">
                <a:solidFill>
                  <a:srgbClr val="D49A12"/>
                </a:solidFill>
                <a:latin typeface="Calibri"/>
              </a:rPr>
              <a:t>(in progress)</a:t>
            </a:r>
          </a:p>
          <a:p>
            <a:pPr algn="l">
              <a:spcAft>
                <a:spcPts val="800"/>
              </a:spcAft>
            </a:pPr>
            <a:r>
              <a:rPr sz="1500" b="1" i="0">
                <a:solidFill>
                  <a:srgbClr val="D49A12"/>
                </a:solidFill>
                <a:latin typeface="Calibri"/>
              </a:rPr>
              <a:t>○  </a:t>
            </a:r>
            <a:r>
              <a:rPr sz="1400" b="1" i="0">
                <a:solidFill>
                  <a:srgbClr val="2D2D2D"/>
                </a:solidFill>
                <a:latin typeface="Calibri"/>
              </a:rPr>
              <a:t>Skill 4: Campaign Performance Analyzer  </a:t>
            </a:r>
            <a:r>
              <a:rPr sz="1200" b="0" i="1">
                <a:solidFill>
                  <a:srgbClr val="D49A12"/>
                </a:solidFill>
                <a:latin typeface="Calibri"/>
              </a:rPr>
              <a:t>(in progress)</a:t>
            </a:r>
          </a:p>
        </p:txBody>
      </p:sp>
      <p:sp>
        <p:nvSpPr>
          <p:cNvPr id="7" name="TextBox 6"/>
          <p:cNvSpPr txBox="1"/>
          <p:nvPr/>
        </p:nvSpPr>
        <p:spPr>
          <a:xfrm>
            <a:off x="640080" y="5440680"/>
            <a:ext cx="5303520" cy="548640"/>
          </a:xfrm>
          <a:prstGeom prst="rect">
            <a:avLst/>
          </a:prstGeom>
          <a:noFill/>
        </p:spPr>
        <p:txBody>
          <a:bodyPr wrap="square" lIns="45720" rIns="45720" tIns="27432" bIns="27432">
            <a:spAutoFit/>
          </a:bodyPr>
          <a:lstStyle/>
          <a:p>
            <a:pPr algn="l"/>
            <a:r>
              <a:rPr sz="1200" b="0" i="1">
                <a:solidFill>
                  <a:srgbClr val="2D2D2D"/>
                </a:solidFill>
                <a:latin typeface="Calibri"/>
              </a:rPr>
              <a:t>README that maps every workflow task to its skill, data, and code.</a:t>
            </a:r>
          </a:p>
        </p:txBody>
      </p:sp>
      <p:sp>
        <p:nvSpPr>
          <p:cNvPr id="8" name="TextBox 7"/>
          <p:cNvSpPr txBox="1"/>
          <p:nvPr/>
        </p:nvSpPr>
        <p:spPr>
          <a:xfrm>
            <a:off x="6245352" y="1417320"/>
            <a:ext cx="5303520" cy="457200"/>
          </a:xfrm>
          <a:prstGeom prst="rect">
            <a:avLst/>
          </a:prstGeom>
          <a:noFill/>
        </p:spPr>
        <p:txBody>
          <a:bodyPr wrap="square" lIns="45720" rIns="45720" tIns="27432" bIns="27432">
            <a:spAutoFit/>
          </a:bodyPr>
          <a:lstStyle/>
          <a:p>
            <a:pPr algn="l"/>
            <a:r>
              <a:rPr sz="1600" b="1" i="0">
                <a:solidFill>
                  <a:srgbClr val="0B7B8A"/>
                </a:solidFill>
                <a:latin typeface="Calibri"/>
              </a:rPr>
              <a:t>DEMO ON MAY 7</a:t>
            </a:r>
          </a:p>
        </p:txBody>
      </p:sp>
      <p:sp>
        <p:nvSpPr>
          <p:cNvPr id="9" name="TextBox 8"/>
          <p:cNvSpPr txBox="1"/>
          <p:nvPr/>
        </p:nvSpPr>
        <p:spPr>
          <a:xfrm>
            <a:off x="6245352" y="1965960"/>
            <a:ext cx="5303520" cy="4114800"/>
          </a:xfrm>
          <a:prstGeom prst="rect">
            <a:avLst/>
          </a:prstGeom>
          <a:noFill/>
        </p:spPr>
        <p:txBody>
          <a:bodyPr wrap="square" lIns="45720" rIns="45720" tIns="27432" bIns="27432">
            <a:spAutoFit/>
          </a:bodyPr>
          <a:lstStyle/>
          <a:p>
            <a:pPr algn="l">
              <a:spcAft>
                <a:spcPts val="1200"/>
              </a:spcAft>
            </a:pPr>
            <a:r>
              <a:rPr sz="1500" b="0" i="0">
                <a:solidFill>
                  <a:srgbClr val="2D2D2D"/>
                </a:solidFill>
                <a:latin typeface="Calibri"/>
              </a:rPr>
              <a:t>•  10-minute video walkthrough</a:t>
            </a:r>
          </a:p>
          <a:p>
            <a:pPr algn="l">
              <a:spcAft>
                <a:spcPts val="1200"/>
              </a:spcAft>
            </a:pPr>
            <a:r>
              <a:rPr sz="1500" b="0" i="0">
                <a:solidFill>
                  <a:srgbClr val="2D2D2D"/>
                </a:solidFill>
                <a:latin typeface="Calibri"/>
              </a:rPr>
              <a:t>•  All 4 skills running live against the database</a:t>
            </a:r>
          </a:p>
          <a:p>
            <a:pPr algn="l">
              <a:spcAft>
                <a:spcPts val="1200"/>
              </a:spcAft>
            </a:pPr>
            <a:r>
              <a:rPr sz="1500" b="0" i="0">
                <a:solidFill>
                  <a:srgbClr val="2D2D2D"/>
                </a:solidFill>
                <a:latin typeface="Calibri"/>
              </a:rPr>
              <a:t>•  Real outputs for the Mother's Day campaign scenario</a:t>
            </a:r>
          </a:p>
          <a:p>
            <a:pPr algn="l">
              <a:spcAft>
                <a:spcPts val="1200"/>
              </a:spcAft>
            </a:pPr>
            <a:r>
              <a:rPr sz="1500" b="0" i="0">
                <a:solidFill>
                  <a:srgbClr val="2D2D2D"/>
                </a:solidFill>
                <a:latin typeface="Calibri"/>
              </a:rPr>
              <a:t>•  Team narration without scripts</a:t>
            </a:r>
          </a:p>
        </p:txBody>
      </p:sp>
      <p:sp>
        <p:nvSpPr>
          <p:cNvPr id="10" name="TextBox 9"/>
          <p:cNvSpPr txBox="1"/>
          <p:nvPr/>
        </p:nvSpPr>
        <p:spPr>
          <a:xfrm>
            <a:off x="457200" y="6126480"/>
            <a:ext cx="11277295" cy="457200"/>
          </a:xfrm>
          <a:prstGeom prst="rect">
            <a:avLst/>
          </a:prstGeom>
          <a:noFill/>
        </p:spPr>
        <p:txBody>
          <a:bodyPr wrap="square" lIns="45720" rIns="45720" tIns="27432" bIns="27432">
            <a:spAutoFit/>
          </a:bodyPr>
          <a:lstStyle/>
          <a:p>
            <a:pPr algn="ctr"/>
            <a:r>
              <a:rPr sz="1300" b="0" i="1">
                <a:solidFill>
                  <a:srgbClr val="0B7B8A"/>
                </a:solidFill>
                <a:latin typeface="Calibri"/>
              </a:rPr>
              <a:t>Repository: github.com/rsm-genai-2026/mgt449-milestone02-Group-4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